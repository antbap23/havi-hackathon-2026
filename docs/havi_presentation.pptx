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wMAPE (%)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AB-994A-A181-8FED1C6FCD80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AB-994A-A181-8FED1C6FCD80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AB-994A-A181-8FED1C6FCD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Naïve Baseline
(Val)</c:v>
                </c:pt>
                <c:pt idx="1">
                  <c:v>LightGBM
(Validation)</c:v>
                </c:pt>
                <c:pt idx="2">
                  <c:v>LightGBM
(Test)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15.18</c:v>
                </c:pt>
                <c:pt idx="1">
                  <c:v>12.22</c:v>
                </c:pt>
                <c:pt idx="2">
                  <c:v>13.12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AB-994A-A181-8FED1C6FCD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05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028090">
              <a:alpha val="14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560320"/>
            <a:ext cx="2286000" cy="22860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 × NIU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QSR Demand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Challenge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11480" y="31821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daily demand across 15 restaurants &amp; 50 menu items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Q4 2025 using LightGBM + time-series feature engineering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NIU Team  •  April 2026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D3545-5FC3-97CE-D5DA-6A05AE686B54}"/>
              </a:ext>
            </a:extLst>
          </p:cNvPr>
          <p:cNvSpPr txBox="1"/>
          <p:nvPr/>
        </p:nvSpPr>
        <p:spPr>
          <a:xfrm>
            <a:off x="2009986" y="4258395"/>
            <a:ext cx="503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By: Mario Reyes,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Nirovro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Swadhin, Anthony Baptiste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5166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73152" cy="3657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4828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demand forecasting is central to HAVI's mission of delivering efficiency and sustainability across the QSR supply chain.
</a:t>
            </a: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Overestimation</a:t>
            </a: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food waste &amp; increased costs
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Underestimation</a:t>
            </a: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stockouts, lost revenue &amp; dissatisfied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3364992"/>
            <a:ext cx="4892040" cy="10515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4663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Forecast daily quantity sold for Oct 1 – Dec 31, 2025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restaurant × menu-item combination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restaurants × 50 items × 92 days = 69,000 predictions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987552"/>
            <a:ext cx="15727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106424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15000" y="15361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1.37M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715000" y="20665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24928" y="987552"/>
            <a:ext cx="15727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10642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24928" y="15361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7424928" y="20665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15000" y="2706624"/>
            <a:ext cx="15727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8254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15000" y="32552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5715000" y="37856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Combos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424928" y="2706624"/>
            <a:ext cx="15727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28254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24928" y="32552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wMAPE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7424928" y="37856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Metric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&amp;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73152" cy="3886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DOW, month, year, is_weekend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15798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🌡️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 (°F), precip inches &amp; 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7797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798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54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special events, promotions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4015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items across 8 categories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4023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🏪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041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QSR restaurants across the Midwest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7408" y="987552"/>
            <a:ext cx="2176272" cy="17190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44568" y="110642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 Dip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44568" y="1536192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avg ≈43 units vs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avg ≈47 units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(~9% lower — systematic bias)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39128" y="987552"/>
            <a:ext cx="2176272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76288" y="110642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Lift +30%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1536192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events drive +29.9%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non-event days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 predictor in model)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07408" y="2862072"/>
            <a:ext cx="2176272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44568" y="29809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 +15%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4568" y="3410712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days average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higher than baseline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× weekend interaction used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39128" y="2862072"/>
            <a:ext cx="2176272" cy="17190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76288" y="29809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+12%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76288" y="3410712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Sat/Sun show ~12% higher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quantity vs weekday;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is top feature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07408" y="4709160"/>
            <a:ext cx="44348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26280" y="4709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0.40% missing quantity (5,475 rows) — imputed with combo-level median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600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359152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Combo-median imputation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missing values.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99.5th-pct outlier cap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restaurant-item.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60604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93392" y="987552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93392" y="987552"/>
            <a:ext cx="1600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93392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084832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84832" y="2359152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features: lag 7–364,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means/std,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seasonality,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event flags.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60604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30752" y="987552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730752" y="987552"/>
            <a:ext cx="1600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730752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3822192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822192" y="2359152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Jan 2021–Aug 2025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Sep 2025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Oct–Dec 2025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splits.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60604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68112" y="987552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68112" y="987552"/>
            <a:ext cx="1600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468112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5559552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559552" y="2359152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objective, log target.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wMAPE.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leaves, LR=0.05.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best rounds.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06040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05472" y="987552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205472" y="987552"/>
            <a:ext cx="160020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205472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5"/>
          <p:cNvSpPr/>
          <p:nvPr/>
        </p:nvSpPr>
        <p:spPr>
          <a:xfrm>
            <a:off x="7296912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296912" y="2359152"/>
            <a:ext cx="1417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all labeled data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+ val) at 360 rounds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generating the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69K forecasts.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future leakage   ✓  Time-based splits only   ✓  wMAPE optimized throughout   ✓  Fully reproducible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51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" y="98755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" y="987552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097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" y="107899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lag_7, 14, 21, 28 (weekly/monthly)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6344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lag_364 (same day prior year)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6344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prior_year_avg by combo/month/DOW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468880"/>
            <a:ext cx="2450592" cy="237744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24688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by gain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54680" y="98755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54680" y="987552"/>
            <a:ext cx="64008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9728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107899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19272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roll_mean_7, 14, 28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19272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roll_std_7, 14, 28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19272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roll_max_7, 14, 28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64408" y="2468880"/>
            <a:ext cx="2450592" cy="237744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264408" y="24688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lag_7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07608" y="98755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007608" y="987552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9728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37960" y="107899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Baselines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72200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prior_year_avg (month × DOW)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17220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same_dow_mean (avg last 3 same-weekdays)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172200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combo_mean (grand average)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117336" y="2468880"/>
            <a:ext cx="2450592" cy="237744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117336" y="24688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combo_mean as fallback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01752" y="29992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301752" y="2999232"/>
            <a:ext cx="6400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3108960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32104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Seasonality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66344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sin/cos DOY harmonics k=1,2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66344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sin/cos DOW harmonic k=1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66344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days_from_start (trend proxy)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11480" y="4480560"/>
            <a:ext cx="2450592" cy="237744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411480" y="448056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no overfitting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3154680" y="29992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3154680" y="2999232"/>
            <a:ext cx="64008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108960"/>
            <a:ext cx="292608" cy="29260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685032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Promos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3319272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is_holiday, is_special_event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319272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is_promotion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3319272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promo × weekend interaction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3264408" y="4480560"/>
            <a:ext cx="2450592" cy="237744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3264408" y="448056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+30%, Promo +15%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007608" y="299923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6007608" y="2999232"/>
            <a:ext cx="64008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08960"/>
            <a:ext cx="292608" cy="29260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537960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Calendar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617220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avg_temp_f, precip_inches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6172200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precip_type (None/Rain/Snow)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17220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month, quarter, DOW, is_weekend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6117336" y="4480560"/>
            <a:ext cx="2450592" cy="237744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6117336" y="448056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seasonal impact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47472" y="987552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50992" y="987552"/>
            <a:ext cx="3145536" cy="8412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10241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223760" y="10424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Baseline wMAPE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23760" y="14173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average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50992" y="1947672"/>
            <a:ext cx="3145536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984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223760" y="200253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Val wMAPE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0" y="2377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validation set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50992" y="2907792"/>
            <a:ext cx="3145536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29443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13.12%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223760" y="296265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Test wMAPE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33375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2025 test period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50992" y="3867912"/>
            <a:ext cx="3145536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39044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+2.96pp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92277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 Baseline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0" y="42976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vs naïve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50992" y="4754880"/>
            <a:ext cx="3145536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1500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R04 11.1%  •  Worst: R09 15.1%  •  Median abs error: 10.4%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3474720" cy="34747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187952" cy="1600200"/>
          </a:xfrm>
          <a:prstGeom prst="rect">
            <a:avLst/>
          </a:prstGeom>
          <a:solidFill>
            <a:srgbClr val="172260"/>
          </a:solidFill>
          <a:ln w="12700">
            <a:solidFill>
              <a:srgbClr val="3A5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54864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54533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54533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Avg — #1 Feature by Gain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02082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prior_year_avg (by restaurant, item, month, DOW) is the single most important feature with 12× higher gain than #2. It anchors each combo's forecast to its own historical seasonal level, preventing cross-series contamination.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87952" cy="1600200"/>
          </a:xfrm>
          <a:prstGeom prst="rect">
            <a:avLst/>
          </a:prstGeom>
          <a:solidFill>
            <a:srgbClr val="172260"/>
          </a:solidFill>
          <a:ln w="12700">
            <a:solidFill>
              <a:srgbClr val="3A5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54864" cy="1600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1545336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154533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Same-DOW Rolling Average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02082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same_dow_mean (average of last 3 same-weekday observations) is the #2 feature. This captures weekly periodicity more precisely than a simple 7-day average because it compares Monday to prior Mondays, not to the surrounding mixed-day window.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200400"/>
            <a:ext cx="4187952" cy="1600200"/>
          </a:xfrm>
          <a:prstGeom prst="rect">
            <a:avLst/>
          </a:prstGeom>
          <a:solidFill>
            <a:srgbClr val="172260"/>
          </a:solidFill>
          <a:ln w="12700">
            <a:solidFill>
              <a:srgbClr val="3A5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200400"/>
            <a:ext cx="54864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332841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" y="332841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+ MAE Objective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80390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log(1 + quantity) with an L1 (MAE) objective is mathematically closer to minimizing MAPE than MSE. It down-weights large absolute errors from high-volume items and produces a more balanced wMAPE score.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4187952" cy="1600200"/>
          </a:xfrm>
          <a:prstGeom prst="rect">
            <a:avLst/>
          </a:prstGeom>
          <a:solidFill>
            <a:srgbClr val="172260"/>
          </a:solidFill>
          <a:ln w="12700">
            <a:solidFill>
              <a:srgbClr val="3A5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54864" cy="1600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19472" y="3328416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332841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wMAPE Early Stopping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80390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was configured with a custom wMAPE evaluation function for early stopping. The model stopped at round 360 — optimizing the exact competition metric rather than a proxy like log-space MAE or RMSE.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" y="987552"/>
            <a:ext cx="4187952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" y="987552"/>
            <a:ext cx="4187952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789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7899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Q4 Supply Planning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62763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13.12% wMAPE the model outperforms naïve benchmarks. Use daily forecasts to set prep quantities, staff schedules, and inventory orders each Oct–Dec — the most volatile quarter.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87552"/>
            <a:ext cx="4187952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987552"/>
            <a:ext cx="418795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07899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Improvement on Drinks &amp; Specials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162763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(wMAPE 13.18%, highest volume) and Specials (13.81%) carry the most forecast risk. Targeted engineering — beverage temp sensitivity, day-part demand — would yield the highest accuracy ROI.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01752" y="2926080"/>
            <a:ext cx="4187952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1752" y="2926080"/>
            <a:ext cx="4187952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0175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3017520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Rich Events Calendar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38912" y="356616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is_special_event is the #5 feature by gain and drives +30% demand lift. An accurate, forward-looking events calendar is one of the highest-leverage data investments for HAVI's supply chain.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187952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41879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0175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76088" y="3017520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Restaurant R09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0" y="356616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 shows 15.05% wMAPE — 3pp above the fleet average. This may indicate local data quality issues, unusual demand patterns, or recent operational changes requiring model recalibration.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303520" cy="530352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wMAPE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13.12%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wMAPE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5800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83210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•  51 engineered features  •  time-based validation  •  wMAPE-optimized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NIU Team  •  HAVI Hackathon 2026  •  Questions welcome!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 × NIU  •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1094</Words>
  <Application>Microsoft Macintosh PowerPoint</Application>
  <PresentationFormat>On-screen Show (16:9)</PresentationFormat>
  <Paragraphs>181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HAVI QSR Demand Forecasting 2026</dc:title>
  <dc:subject>PptxGenJS Presentation</dc:subject>
  <dc:creator>PptxGenJS</dc:creator>
  <cp:lastModifiedBy>Anthony Baptiste</cp:lastModifiedBy>
  <cp:revision>2</cp:revision>
  <dcterms:created xsi:type="dcterms:W3CDTF">2026-03-28T17:28:50Z</dcterms:created>
  <dcterms:modified xsi:type="dcterms:W3CDTF">2026-03-28T21:22:06Z</dcterms:modified>
</cp:coreProperties>
</file>